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" y="749808"/>
            <a:ext cx="329184" cy="329184"/>
          </a:xfrm>
          <a:prstGeom prst="ellipse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50591" y="438912"/>
            <a:ext cx="219456" cy="219456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8640" y="2194560"/>
            <a:ext cx="182880" cy="182880"/>
          </a:xfrm>
          <a:prstGeom prst="ellipse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063240" y="1508760"/>
            <a:ext cx="274320" cy="274320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54480" y="2834640"/>
            <a:ext cx="182880" cy="182880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67328" y="749808"/>
            <a:ext cx="146304" cy="146304"/>
          </a:xfrm>
          <a:prstGeom prst="ellipse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47088" y="1298448"/>
            <a:ext cx="146304" cy="146304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79392" y="2084831"/>
            <a:ext cx="219456" cy="219456"/>
          </a:xfrm>
          <a:prstGeom prst="ellipse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45920"/>
            <a:ext cx="4206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Brain-Viz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4320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2EC4B6"/>
                </a:solidFill>
                <a:latin typeface="Calibri"/>
              </a:rPr>
              <a:t>Interactive 3D Visual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4612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7E95CC"/>
                </a:solidFill>
                <a:latin typeface="Calibri"/>
              </a:rPr>
              <a:t>Human Connectomics Visualization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3474720" cy="36576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02336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95CC"/>
                </a:solidFill>
                <a:latin typeface="Calibri"/>
              </a:rPr>
              <a:t>Nishant  ·  2025EET2734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891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7E95CC"/>
                </a:solidFill>
                <a:latin typeface="Calibri"/>
              </a:rPr>
              <a:t>Aryan  ·  2025EET2486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2064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5070"/>
                </a:solidFill>
                <a:latin typeface="Calibri"/>
              </a:rPr>
              <a:t>EET — Data Visualization  |  2025</a:t>
            </a:r>
          </a:p>
        </p:txBody>
      </p:sp>
      <p:sp>
        <p:nvSpPr>
          <p:cNvPr id="19" name="Oval 18"/>
          <p:cNvSpPr/>
          <p:nvPr/>
        </p:nvSpPr>
        <p:spPr>
          <a:xfrm>
            <a:off x="5321808" y="384048"/>
            <a:ext cx="146304" cy="146304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821424" y="384048"/>
            <a:ext cx="146304" cy="146304"/>
          </a:xfrm>
          <a:prstGeom prst="ellipse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070848" y="384048"/>
            <a:ext cx="146304" cy="146304"/>
          </a:xfrm>
          <a:prstGeom prst="ellipse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811512" y="374904"/>
            <a:ext cx="164592" cy="164592"/>
          </a:xfrm>
          <a:prstGeom prst="ellipse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062472" y="1124711"/>
            <a:ext cx="164592" cy="164592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820656" y="1133855"/>
            <a:ext cx="146304" cy="146304"/>
          </a:xfrm>
          <a:prstGeom prst="ellipse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071616" y="1883663"/>
            <a:ext cx="146304" cy="146304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766560" y="1828799"/>
            <a:ext cx="256032" cy="256032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93608" y="1856231"/>
            <a:ext cx="201168" cy="201168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070848" y="1883663"/>
            <a:ext cx="146304" cy="146304"/>
          </a:xfrm>
          <a:prstGeom prst="ellipse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793224" y="1856231"/>
            <a:ext cx="201168" cy="201168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292840" y="1856231"/>
            <a:ext cx="201168" cy="201168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266944" y="2578608"/>
            <a:ext cx="256032" cy="256032"/>
          </a:xfrm>
          <a:prstGeom prst="ellipse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765792" y="2578608"/>
            <a:ext cx="256032" cy="256032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071616" y="3383279"/>
            <a:ext cx="146304" cy="146304"/>
          </a:xfrm>
          <a:prstGeom prst="ellipse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821424" y="3383279"/>
            <a:ext cx="146304" cy="146304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765792" y="3328415"/>
            <a:ext cx="256032" cy="256032"/>
          </a:xfrm>
          <a:prstGeom prst="ellipse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071616" y="4133087"/>
            <a:ext cx="146304" cy="146304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561320" y="4123944"/>
            <a:ext cx="164592" cy="164592"/>
          </a:xfrm>
          <a:prstGeom prst="ellipse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1311128" y="4123944"/>
            <a:ext cx="164592" cy="164592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12664" y="4873752"/>
            <a:ext cx="164592" cy="164592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821424" y="4882896"/>
            <a:ext cx="146304" cy="146304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293608" y="4855464"/>
            <a:ext cx="201168" cy="201168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1320272" y="4882896"/>
            <a:ext cx="146304" cy="146304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070848" y="5632703"/>
            <a:ext cx="146304" cy="146304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793224" y="5605271"/>
            <a:ext cx="201168" cy="201168"/>
          </a:xfrm>
          <a:prstGeom prst="ellipse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561320" y="5623559"/>
            <a:ext cx="164592" cy="164592"/>
          </a:xfrm>
          <a:prstGeom prst="ellipse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64008" cy="685800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E8F8"/>
                </a:solidFill>
                <a:latin typeface="Calibri"/>
              </a:rPr>
              <a:t>Introduction &amp;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5394960" cy="512064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3A86FF"/>
                </a:solidFill>
                <a:latin typeface="Calibri"/>
              </a:rPr>
              <a:t>Why Brain Connectivity?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74519"/>
            <a:ext cx="54864" cy="54864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783080"/>
            <a:ext cx="486460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8"/>
                </a:solidFill>
                <a:latin typeface="Calibri"/>
              </a:rPr>
              <a:t>The human brain contains ~86 billion neurons forming trillions of synaptic connections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770632"/>
            <a:ext cx="54864" cy="54864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679191"/>
            <a:ext cx="486460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8"/>
                </a:solidFill>
                <a:latin typeface="Calibri"/>
              </a:rPr>
              <a:t>Structural connectivity (connectome) governs cognition, emotion, and behaviour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666744"/>
            <a:ext cx="54864" cy="54864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3575303"/>
            <a:ext cx="486460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8"/>
                </a:solidFill>
                <a:latin typeface="Calibri"/>
              </a:rPr>
              <a:t>Neurological disorders — Alzheimer's, autism, schizophrenia — manifest as connectivity disruptions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4562855"/>
            <a:ext cx="54864" cy="54864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4471416"/>
            <a:ext cx="486460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8"/>
                </a:solidFill>
                <a:latin typeface="Calibri"/>
              </a:rPr>
              <a:t>Visual analytics can reveal patterns invisible in raw matrices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5458967"/>
            <a:ext cx="54864" cy="54864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5367527"/>
            <a:ext cx="486460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8"/>
                </a:solidFill>
                <a:latin typeface="Calibri"/>
              </a:rPr>
              <a:t>Clinicians and researchers need intuitive tools, not just data dumps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80760" y="1188720"/>
            <a:ext cx="2286000" cy="123444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1188720"/>
            <a:ext cx="2286000" cy="64008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1298448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3A86FF"/>
                </a:solidFill>
                <a:latin typeface="Calibri"/>
              </a:rPr>
              <a:t>86 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19202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95CC"/>
                </a:solidFill>
                <a:latin typeface="Calibri"/>
              </a:rPr>
              <a:t>Neurons in
human brain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60" y="2880360"/>
            <a:ext cx="2286000" cy="123444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80760" y="2880360"/>
            <a:ext cx="2286000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2990088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EC4B6"/>
                </a:solidFill>
                <a:latin typeface="Calibri"/>
              </a:rPr>
              <a:t>100 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36118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95CC"/>
                </a:solidFill>
                <a:latin typeface="Calibri"/>
              </a:rPr>
              <a:t>Synaptic
connections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4572000"/>
            <a:ext cx="2286000" cy="123444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80760" y="4572000"/>
            <a:ext cx="2286000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4681728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D166"/>
                </a:solidFill>
                <a:latin typeface="Calibri"/>
              </a:rPr>
              <a:t>50 M+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80760" y="53035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95CC"/>
                </a:solidFill>
                <a:latin typeface="Calibri"/>
              </a:rPr>
              <a:t>Global neurological
disease burden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5669280"/>
            <a:ext cx="5943600" cy="914400"/>
          </a:xfrm>
          <a:prstGeom prst="rect">
            <a:avLst/>
          </a:prstGeom>
          <a:solidFill>
            <a:srgbClr val="1C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80760" y="5715000"/>
            <a:ext cx="57607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2E8F8"/>
                </a:solidFill>
                <a:latin typeface="Calibri"/>
              </a:rPr>
              <a:t>💡  Our Goal: A zero-install, web-based visual analytics tool that makes brain connectivity exploration accessible to researchers AND laypersons alike.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64008" cy="685800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E8F8"/>
                </a:solidFill>
                <a:latin typeface="Calibri"/>
              </a:rPr>
              <a:t>Problem Definition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5394960" cy="539496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5394960" cy="64008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7043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72585"/>
                </a:solidFill>
                <a:latin typeface="Calibri"/>
              </a:rPr>
              <a:t>🧩  The Challenge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874519"/>
            <a:ext cx="54864" cy="54864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83080"/>
            <a:ext cx="48646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2E8F8"/>
                </a:solidFill>
                <a:latin typeface="Calibri"/>
              </a:rPr>
              <a:t>Brain networks involve 100s of regions with 1000s of connections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788920"/>
            <a:ext cx="54864" cy="54864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697480"/>
            <a:ext cx="48646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2E8F8"/>
                </a:solidFill>
                <a:latin typeface="Calibri"/>
              </a:rPr>
              <a:t>Existing tools (BrainNet Viewer, Connectome Workbench) require installation of heavy software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703320"/>
            <a:ext cx="54864" cy="54864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611880"/>
            <a:ext cx="48646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2E8F8"/>
                </a:solidFill>
                <a:latin typeface="Calibri"/>
              </a:rPr>
              <a:t>No unified tool offers both 3D spatial AND 2D topological views simultaneously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617720"/>
            <a:ext cx="54864" cy="54864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4526280"/>
            <a:ext cx="48646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2E8F8"/>
                </a:solidFill>
                <a:latin typeface="Calibri"/>
              </a:rPr>
              <a:t>Pathfinding between brain regions is not natively supported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5532120"/>
            <a:ext cx="54864" cy="54864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5440680"/>
            <a:ext cx="48646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2E8F8"/>
                </a:solidFill>
                <a:latin typeface="Calibri"/>
              </a:rPr>
              <a:t>Comparing healthy vs. disease-affected brains requires manual analysis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097280"/>
            <a:ext cx="5394960" cy="539496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097280"/>
            <a:ext cx="5394960" cy="640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17043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D6A0"/>
                </a:solidFill>
                <a:latin typeface="Calibri"/>
              </a:rPr>
              <a:t>✅  Our Solution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1874519"/>
            <a:ext cx="54864" cy="54864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8272" y="1783080"/>
            <a:ext cx="48646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2E8F8"/>
                </a:solidFill>
                <a:latin typeface="Calibri"/>
              </a:rPr>
              <a:t>Lightweight web app — runs entirely in the browser, zero install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2788920"/>
            <a:ext cx="54864" cy="54864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48272" y="2697480"/>
            <a:ext cx="48646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2E8F8"/>
                </a:solidFill>
                <a:latin typeface="Calibri"/>
              </a:rPr>
              <a:t>Dual-view: 3D WebGL spatial brain + D3.js 2D chord topology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3703320"/>
            <a:ext cx="54864" cy="54864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48272" y="3611880"/>
            <a:ext cx="48646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2E8F8"/>
                </a:solidFill>
                <a:latin typeface="Calibri"/>
              </a:rPr>
              <a:t>Brushing &amp; linking between views for cross-view exploration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0" y="4617720"/>
            <a:ext cx="54864" cy="54864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48272" y="4526280"/>
            <a:ext cx="48646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2E8F8"/>
                </a:solidFill>
                <a:latin typeface="Calibri"/>
              </a:rPr>
              <a:t>Dijkstra pathfinding to trace strongest structural pathways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0" y="5532120"/>
            <a:ext cx="54864" cy="54864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48272" y="5440680"/>
            <a:ext cx="48646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2E8F8"/>
                </a:solidFill>
                <a:latin typeface="Calibri"/>
              </a:rPr>
              <a:t>Side-by-side comparison of two connectomes with structural diff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64008" cy="6858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E8F8"/>
                </a:solidFill>
                <a:latin typeface="Calibri"/>
              </a:rPr>
              <a:t>Related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2743200" cy="384048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2743200" cy="64008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A86FF"/>
                </a:solidFill>
                <a:latin typeface="Calibri"/>
              </a:rPr>
              <a:t>BrainNet
Viewer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E95CC"/>
                </a:solidFill>
                <a:latin typeface="Calibri"/>
              </a:rPr>
              <a:t>Xia et 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8"/>
                </a:solidFill>
                <a:latin typeface="Calibri"/>
              </a:rPr>
              <a:t>MATLAB-based 3D brain network visualizer.
Widely used in neuroscience research.
Limitation: Requires MATLAB licence, not web-accessible.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55848" y="1097280"/>
            <a:ext cx="2743200" cy="384048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55848" y="1097280"/>
            <a:ext cx="2743200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008" y="11887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C4B6"/>
                </a:solidFill>
                <a:latin typeface="Calibri"/>
              </a:rPr>
              <a:t>Connectome
Workbench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1828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E95CC"/>
                </a:solidFill>
                <a:latin typeface="Calibri"/>
              </a:rPr>
              <a:t>HCP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219456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8"/>
                </a:solidFill>
                <a:latin typeface="Calibri"/>
              </a:rPr>
              <a:t>Full-featured medical imaging platform.
Supports multi-modal neuroimaging data.
Limitation: Complex interface, not suited for exploratory analytics.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216" y="1097280"/>
            <a:ext cx="2743200" cy="384048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0216" y="1097280"/>
            <a:ext cx="2743200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1887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166"/>
                </a:solidFill>
                <a:latin typeface="Calibri"/>
              </a:rPr>
              <a:t>Brain
Voyager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1828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E95CC"/>
                </a:solidFill>
                <a:latin typeface="Calibri"/>
              </a:rPr>
              <a:t>Goebel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19456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8"/>
                </a:solidFill>
                <a:latin typeface="Calibri"/>
              </a:rPr>
              <a:t>Commercial fMRI analysis software.
Rich feature set for clinical research.
Limitation: Paid licence, no web deployment.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44584" y="1097280"/>
            <a:ext cx="2743200" cy="384048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44584" y="1097280"/>
            <a:ext cx="2743200" cy="64008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81744" y="118872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72585"/>
                </a:solidFill>
                <a:latin typeface="Calibri"/>
              </a:rPr>
              <a:t>D3 / WebGL
Libraries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81744" y="18288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E95CC"/>
                </a:solidFill>
                <a:latin typeface="Calibri"/>
              </a:rPr>
              <a:t>Open Source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81744" y="2194560"/>
            <a:ext cx="2468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8"/>
                </a:solidFill>
                <a:latin typeface="Calibri"/>
              </a:rPr>
              <a:t>General-purpose graph &amp; 3D rendering.
Used in several neuroscience dashboards.
Limitation: No domain-specific brain atlas integration.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5120640"/>
            <a:ext cx="11338560" cy="1371600"/>
          </a:xfrm>
          <a:prstGeom prst="rect">
            <a:avLst/>
          </a:prstGeom>
          <a:solidFill>
            <a:srgbClr val="1C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5120640"/>
            <a:ext cx="11338560" cy="64008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23036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A86FF"/>
                </a:solidFill>
                <a:latin typeface="Calibri"/>
              </a:rPr>
              <a:t>How Brain-Viz differs:  Web-native  ·  Zero install  ·  Dual-view (3D+2D)  ·  Pathfinding  ·  Real-data pipeline  ·  Disease comparison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95CC"/>
                </a:solidFill>
                <a:latin typeface="Calibri"/>
              </a:rPr>
              <a:t>Brain-Viz is the only tool combining all these features in a single browser-based platform.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64008" cy="6858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E8F8"/>
                </a:solidFill>
                <a:latin typeface="Calibri"/>
              </a:rPr>
              <a:t>Data Sources &amp; Acquisition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2743200" cy="347472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2743200" cy="64008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" y="1188720"/>
            <a:ext cx="25237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A86FF"/>
                </a:solidFill>
                <a:latin typeface="Calibri"/>
              </a:rPr>
              <a:t>HCP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" y="1664208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E95CC"/>
                </a:solidFill>
                <a:latin typeface="Calibri"/>
              </a:rPr>
              <a:t>Human Connectome
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" y="2286000"/>
            <a:ext cx="252374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8"/>
                </a:solidFill>
                <a:latin typeface="Calibri"/>
              </a:rPr>
              <a:t>Healthy adult brains
DTI structural connectivity
100–500 parcellation regions
Spatial MNI coordinates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355848" y="1097280"/>
            <a:ext cx="2743200" cy="347472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55848" y="1097280"/>
            <a:ext cx="2743200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65576" y="1188720"/>
            <a:ext cx="25237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EC4B6"/>
                </a:solidFill>
                <a:latin typeface="Calibri"/>
              </a:rPr>
              <a:t>ABIDE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5576" y="1664208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E95CC"/>
                </a:solidFill>
                <a:latin typeface="Calibri"/>
              </a:rPr>
              <a:t>Autism Brain
Imaging Exchange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5576" y="2286000"/>
            <a:ext cx="252374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8"/>
                </a:solidFill>
                <a:latin typeface="Calibri"/>
              </a:rPr>
              <a:t>Autism vs. neurotypical
fMRI resting-state data
CPAC preprocessed
Open access, 539 subjects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216" y="1097280"/>
            <a:ext cx="2743200" cy="347472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0216" y="1097280"/>
            <a:ext cx="2743200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1188720"/>
            <a:ext cx="25237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D166"/>
                </a:solidFill>
                <a:latin typeface="Calibri"/>
              </a:rPr>
              <a:t>ADNI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9944" y="1664208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E95CC"/>
                </a:solidFill>
                <a:latin typeface="Calibri"/>
              </a:rPr>
              <a:t>Alzheimer's Disease
Neuroimaging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9944" y="2286000"/>
            <a:ext cx="252374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8"/>
                </a:solidFill>
                <a:latin typeface="Calibri"/>
              </a:rPr>
              <a:t>Alzheimer's progression
DTI + fMRI longitudinal
Free academic access
Registration required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44584" y="1097280"/>
            <a:ext cx="2743200" cy="347472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44584" y="1097280"/>
            <a:ext cx="2743200" cy="64008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1" y="1188720"/>
            <a:ext cx="252374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72585"/>
                </a:solidFill>
                <a:latin typeface="Calibri"/>
              </a:rPr>
              <a:t>nilearn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4311" y="1664208"/>
            <a:ext cx="2523744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E95CC"/>
                </a:solidFill>
                <a:latin typeface="Calibri"/>
              </a:rPr>
              <a:t>Python Atlas
Library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54311" y="2286000"/>
            <a:ext cx="2523744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8"/>
                </a:solidFill>
                <a:latin typeface="Calibri"/>
              </a:rPr>
              <a:t>Auto-downloads atlases
Schaefer 100/200/400
Destrieux cortical parcels
No manual files needed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754880"/>
            <a:ext cx="11338560" cy="1828800"/>
          </a:xfrm>
          <a:prstGeom prst="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48280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Calibri"/>
              </a:rPr>
              <a:t>Data Pipeline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5230368"/>
            <a:ext cx="1691640" cy="118872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26694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Calibr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5596128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8"/>
                </a:solidFill>
                <a:latin typeface="Calibri"/>
              </a:rPr>
              <a:t>Download
fMRI/DTI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20" y="56235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A86FF"/>
                </a:solidFill>
                <a:latin typeface="Calibri"/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496312" y="5230368"/>
            <a:ext cx="1691640" cy="118872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87752" y="526694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Calibr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87752" y="5596128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8"/>
                </a:solidFill>
                <a:latin typeface="Calibri"/>
              </a:rPr>
              <a:t>Atlas
registration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33672" y="56235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A86FF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98264" y="5230368"/>
            <a:ext cx="1691640" cy="118872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89704" y="526694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Calibr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9704" y="5596128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8"/>
                </a:solidFill>
                <a:latin typeface="Calibri"/>
              </a:rPr>
              <a:t>Connectivity
matrix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35624" y="56235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A86FF"/>
                </a:solidFill>
                <a:latin typeface="Calibri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0216" y="5230368"/>
            <a:ext cx="1691640" cy="118872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91656" y="526694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91656" y="5596128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8"/>
                </a:solidFill>
                <a:latin typeface="Calibri"/>
              </a:rPr>
              <a:t>Threshold
&amp; normalise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037576" y="56235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A86FF"/>
                </a:solidFill>
                <a:latin typeface="Calibri"/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02168" y="5230368"/>
            <a:ext cx="1691640" cy="118872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93608" y="526694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Calibri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93608" y="5596128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8"/>
                </a:solidFill>
                <a:latin typeface="Calibri"/>
              </a:rPr>
              <a:t>process_hcp.py
→ JSON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39528" y="56235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3A86FF"/>
                </a:solidFill>
                <a:latin typeface="Calibri"/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104120" y="5230368"/>
            <a:ext cx="1691640" cy="118872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95560" y="526694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Calibri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95560" y="5596128"/>
            <a:ext cx="1508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8"/>
                </a:solidFill>
                <a:latin typeface="Calibri"/>
              </a:rPr>
              <a:t>Brain-Viz
visualization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64008" cy="685800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E8F8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00584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64008" cy="100584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Calibri"/>
              </a:rPr>
              <a:t>Data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1298448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process_hcp.py  ·  nilearn atlas fetch  ·  ABIDE / HCP / ADNI CSVs  →  connectome.json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10312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5070"/>
                </a:solidFill>
                <a:latin typeface="Calibri"/>
              </a:rPr>
              <a:t>▼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286000"/>
            <a:ext cx="11338560" cy="100584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286000"/>
            <a:ext cx="64008" cy="10058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3774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C4B6"/>
                </a:solidFill>
                <a:latin typeface="Calibri"/>
              </a:rPr>
              <a:t>State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487168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store.js  —  Reactive event bus  ·  filter:changed  ·  path:found  ·  region:selected  ·  dimOpacity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329184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5070"/>
                </a:solidFill>
                <a:latin typeface="Calibri"/>
              </a:rPr>
              <a:t>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474720"/>
            <a:ext cx="11338560" cy="100584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474720"/>
            <a:ext cx="64008" cy="1005840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5661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A86FF"/>
                </a:solidFill>
                <a:latin typeface="Calibri"/>
              </a:rPr>
              <a:t>Algorithm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3675887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algorithms.js  —  Dijkstra shortest path  ·  Louvain community detection  ·  Global efficiency  ·  Edge filtering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480560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5070"/>
                </a:solidFill>
                <a:latin typeface="Calibri"/>
              </a:rP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663440"/>
            <a:ext cx="11338560" cy="100584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4663440"/>
            <a:ext cx="64008" cy="1005840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754879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72585"/>
                </a:solidFill>
                <a:latin typeface="Calibri"/>
              </a:rPr>
              <a:t>Visualization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4864607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brain3d.js  (Three.js r128 WebGL)  ·  graph2d.js  (D3.js v7 chord + circular)  ·  Brushing &amp; linking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5669279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45070"/>
                </a:solidFill>
                <a:latin typeface="Calibri"/>
              </a:rPr>
              <a:t>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5852160"/>
            <a:ext cx="11338560" cy="68580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5852160"/>
            <a:ext cx="64008" cy="6858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5943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  <a:latin typeface="Calibri"/>
              </a:rPr>
              <a:t>UI / UX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97480" y="6053328"/>
            <a:ext cx="8869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main.js  ·  Landing page  ·  Dataset manager  ·  Compare page  ·  Region info panel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64008" cy="6858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E8F8"/>
                </a:solidFill>
                <a:latin typeface="Calibri"/>
              </a:rPr>
              <a:t>Algorithm 1: Louvain Community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5669280" cy="539496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C4B6"/>
                </a:solidFill>
                <a:latin typeface="Calibri"/>
              </a:rPr>
              <a:t>How It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54864" cy="54864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91640"/>
            <a:ext cx="513892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8"/>
                </a:solidFill>
                <a:latin typeface="Calibri"/>
              </a:rPr>
              <a:t>Assign each node its own community initially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679192"/>
            <a:ext cx="54864" cy="54864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587752"/>
            <a:ext cx="513892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8"/>
                </a:solidFill>
                <a:latin typeface="Calibri"/>
              </a:rPr>
              <a:t>For each node, compute modularity gain of moving it to each neighbour's community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575304"/>
            <a:ext cx="54864" cy="54864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3483864"/>
            <a:ext cx="513892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8"/>
                </a:solidFill>
                <a:latin typeface="Calibri"/>
              </a:rPr>
              <a:t>Move node to the community giving the highest gain (if positive)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4471416"/>
            <a:ext cx="54864" cy="54864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4379976"/>
            <a:ext cx="513892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8"/>
                </a:solidFill>
                <a:latin typeface="Calibri"/>
              </a:rPr>
              <a:t>Repeat until no single move improves modularity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5367527"/>
            <a:ext cx="54864" cy="54864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5276088"/>
            <a:ext cx="5138928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8"/>
                </a:solidFill>
                <a:latin typeface="Calibri"/>
              </a:rPr>
              <a:t>Aggregate communities into super-nodes and repeat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303520"/>
            <a:ext cx="5303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FD166"/>
                </a:solidFill>
                <a:latin typeface="Calibri"/>
              </a:rPr>
              <a:t>Modularity Q  =  Σ [ Aᵢⱼ  −  kᵢkⱼ / 2m ]  ×  δ(cᵢ, cⱼ) / 2m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097280"/>
            <a:ext cx="5394960" cy="539496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1188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C4B6"/>
                </a:solidFill>
                <a:latin typeface="Calibri"/>
              </a:rPr>
              <a:t>Result in Brain-Viz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1810512"/>
            <a:ext cx="228600" cy="228600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86FF"/>
                </a:solidFill>
                <a:latin typeface="Calibri"/>
              </a:rPr>
              <a:t>Default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066543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E95CC"/>
                </a:solidFill>
                <a:latin typeface="Calibri"/>
              </a:rPr>
              <a:t>17 nodes  ·  medial prefrontal, PCC, angular gyrus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2523744"/>
            <a:ext cx="228600" cy="2286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2450591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4B6"/>
                </a:solidFill>
                <a:latin typeface="Calibri"/>
              </a:rPr>
              <a:t>Visual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2779775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E95CC"/>
                </a:solidFill>
                <a:latin typeface="Calibri"/>
              </a:rPr>
              <a:t>28 nodes  ·  primary/extrastriate visual cortex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3236976"/>
            <a:ext cx="228600" cy="2286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316382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  <a:latin typeface="Calibri"/>
              </a:rPr>
              <a:t>Somatomotor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03720" y="3493008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E95CC"/>
                </a:solidFill>
                <a:latin typeface="Calibri"/>
              </a:rPr>
              <a:t>16 nodes  ·  pre/postcentral gyrus, SMA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3950208"/>
            <a:ext cx="228600" cy="228600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387705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2585"/>
                </a:solidFill>
                <a:latin typeface="Calibri"/>
              </a:rPr>
              <a:t>Frontoparietal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4206240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E95CC"/>
                </a:solidFill>
                <a:latin typeface="Calibri"/>
              </a:rPr>
              <a:t>21 nodes  ·  DLPFC, IPS, lateral prefrontal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4663440"/>
            <a:ext cx="228600" cy="2286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03720" y="45902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  <a:latin typeface="Calibri"/>
              </a:rPr>
              <a:t>Limbic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4919472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E95CC"/>
                </a:solidFill>
                <a:latin typeface="Calibri"/>
              </a:rPr>
              <a:t> 5 nodes  ·  hippocampus, amygdala, OFC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7960" y="5376672"/>
            <a:ext cx="228600" cy="2286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03720" y="5303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Dorsal Attention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5632704"/>
            <a:ext cx="46634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E95CC"/>
                </a:solidFill>
                <a:latin typeface="Calibri"/>
              </a:rPr>
              <a:t>13 nodes  ·  FEF, IPS, MT+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64008" cy="6858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E8F8"/>
                </a:solidFill>
                <a:latin typeface="Calibri"/>
              </a:rPr>
              <a:t>Algorithm 2: Dijkstra Shortest Path (Strongest Pathway)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5669280" cy="539496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166"/>
                </a:solidFill>
                <a:latin typeface="Calibri"/>
              </a:rPr>
              <a:t>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54864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91640"/>
            <a:ext cx="513892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8"/>
                </a:solidFill>
                <a:latin typeface="Calibri"/>
              </a:rPr>
              <a:t>Edge cost = 1 / weight  (high connectivity = cheap to traverse)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560320"/>
            <a:ext cx="54864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468880"/>
            <a:ext cx="513892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8"/>
                </a:solidFill>
                <a:latin typeface="Calibri"/>
              </a:rPr>
              <a:t>MinHeap priority queue for O((V+E) log V) performance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337560"/>
            <a:ext cx="54864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3246120"/>
            <a:ext cx="513892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8"/>
                </a:solidFill>
                <a:latin typeface="Calibri"/>
              </a:rPr>
              <a:t>Predecessor array enables path reconstruction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4114800"/>
            <a:ext cx="54864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4023360"/>
            <a:ext cx="513892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8"/>
                </a:solidFill>
                <a:latin typeface="Calibri"/>
              </a:rPr>
              <a:t>Path nodes highlighted gold; animated particles travel along path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892040"/>
            <a:ext cx="54864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4800600"/>
            <a:ext cx="513892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8"/>
                </a:solidFill>
                <a:latin typeface="Calibri"/>
              </a:rPr>
              <a:t>Click node 1 (source) → click node 2 (destination) → path shown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669279"/>
            <a:ext cx="54864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5577840"/>
            <a:ext cx="513892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8"/>
                </a:solidFill>
                <a:latin typeface="Calibri"/>
              </a:rPr>
              <a:t>Displays: hop count, average edge weight, region labels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5074920"/>
            <a:ext cx="5303520" cy="1188720"/>
          </a:xfrm>
          <a:prstGeom prst="rect">
            <a:avLst/>
          </a:prstGeom>
          <a:solidFill>
            <a:srgbClr val="1C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16636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2EC4B6"/>
                </a:solidFill>
                <a:latin typeface="Calibri"/>
              </a:rPr>
              <a:t>dist[src]=0  →  pq.push(src,0)  →  while pq: u=pq.pop()  →  for v in adj[u]: cost=dist[u]+1/w  →  if cost&lt;dist[v]: relax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1097280"/>
            <a:ext cx="5394960" cy="539496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1188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166"/>
                </a:solidFill>
                <a:latin typeface="Calibri"/>
              </a:rPr>
              <a:t>Interactive Demo Flow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1810512"/>
            <a:ext cx="73152" cy="256032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20840" y="173736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86FF"/>
                </a:solidFill>
                <a:latin typeface="Calibri"/>
              </a:rPr>
              <a:t>1  Click source region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2084831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E95CC"/>
                </a:solidFill>
                <a:latin typeface="Calibri"/>
              </a:rPr>
              <a:t>Node turns gold, 'Select destination' hint appears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37960" y="2496312"/>
            <a:ext cx="73152" cy="25603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242316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  <a:latin typeface="Calibri"/>
              </a:rPr>
              <a:t>2  Click destination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277063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E95CC"/>
                </a:solidFill>
                <a:latin typeface="Calibri"/>
              </a:rPr>
              <a:t>Dijkstra runs on adjacency map in &lt;5 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3182112"/>
            <a:ext cx="73152" cy="256032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20840" y="310896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4B6"/>
                </a:solidFill>
                <a:latin typeface="Calibri"/>
              </a:rPr>
              <a:t>3  Path renders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0840" y="345643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E95CC"/>
                </a:solidFill>
                <a:latin typeface="Calibri"/>
              </a:rPr>
              <a:t>Gold line + glow drawn through intermediate nodes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37960" y="3867912"/>
            <a:ext cx="73152" cy="256032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379476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2585"/>
                </a:solidFill>
                <a:latin typeface="Calibri"/>
              </a:rPr>
              <a:t>4  Particles animate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0840" y="414223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E95CC"/>
                </a:solidFill>
                <a:latin typeface="Calibri"/>
              </a:rPr>
              <a:t>14 glowing dots travel the path direction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7960" y="4553712"/>
            <a:ext cx="73152" cy="256032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0840" y="448056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  <a:latin typeface="Calibri"/>
              </a:rPr>
              <a:t>5  Info bar updates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482803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E95CC"/>
                </a:solidFill>
                <a:latin typeface="Calibri"/>
              </a:rPr>
              <a:t>Shows: L-PreCentral → R-STG · Hops: 3 · Avg: 0.62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37960" y="5239512"/>
            <a:ext cx="73152" cy="256032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0840" y="516636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6  Click third node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5513832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E95CC"/>
                </a:solidFill>
                <a:latin typeface="Calibri"/>
              </a:rPr>
              <a:t>Resets selection for new pathfinding query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64008" cy="685800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E8F8"/>
                </a:solidFill>
                <a:latin typeface="Calibri"/>
              </a:rPr>
              <a:t>Algorithm 3: Connectivity Matrix Processing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11338560" cy="658368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143000"/>
            <a:ext cx="64008" cy="658368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97864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86FF"/>
                </a:solidFill>
                <a:latin typeface="Calibri"/>
              </a:rPr>
              <a:t>1.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1307592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Raw n×n connectivity matrix from DTI tractography or fMRI correlation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892807"/>
            <a:ext cx="11338560" cy="658368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892807"/>
            <a:ext cx="64008" cy="65836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4767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4B6"/>
                </a:solidFill>
                <a:latin typeface="Calibri"/>
              </a:rPr>
              <a:t>2. Threshold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68880" y="2057400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Keep only edges with weight &gt; τ (default 0.10), discard self-loops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642615"/>
            <a:ext cx="11338560" cy="658368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642615"/>
            <a:ext cx="64008" cy="65836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697479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  <a:latin typeface="Calibri"/>
              </a:rPr>
              <a:t>3. Normalise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807208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Min-max normalise all surviving weights to [0, 1]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392424"/>
            <a:ext cx="11338560" cy="658368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392424"/>
            <a:ext cx="64008" cy="658368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447288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2585"/>
                </a:solidFill>
                <a:latin typeface="Calibri"/>
              </a:rPr>
              <a:t>4. Cap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557016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Keep only the top-K edges (default K=700) for browser performance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142231"/>
            <a:ext cx="11338560" cy="658368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142231"/>
            <a:ext cx="64008" cy="65836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4197095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  <a:latin typeface="Calibri"/>
              </a:rPr>
              <a:t>5. Betweenness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68880" y="4306823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Compute betweenness centrality via Brandes algorithm (O(VE) approximated)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892040"/>
            <a:ext cx="11338560" cy="658368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4892040"/>
            <a:ext cx="64008" cy="65836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946903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6. Community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5056631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Run Louvain community detection on thresholded graph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641848"/>
            <a:ext cx="11338560" cy="658368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5641848"/>
            <a:ext cx="64008" cy="658368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696712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86FF"/>
                </a:solidFill>
                <a:latin typeface="Calibri"/>
              </a:rPr>
              <a:t>7. JSON 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5806440"/>
            <a:ext cx="9052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Serialise nodes, edges, communities, metadata → connectome.json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166"/>
                </a:solidFill>
                <a:latin typeface="Calibri"/>
              </a:rPr>
              <a:t>Output: connectome.json — drop directly into Brain-Viz via drag-and-drop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64008" cy="685800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E8F8"/>
                </a:solidFill>
                <a:latin typeface="Calibri"/>
              </a:rPr>
              <a:t>Visualization Framework: Three.js + D3.js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5577840" cy="539496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5577840" cy="64008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7043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A86FF"/>
                </a:solidFill>
                <a:latin typeface="Calibri"/>
              </a:rPr>
              <a:t>3D Spatial View  (Three.js r128 WebGL)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810512"/>
            <a:ext cx="54864" cy="54864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19072"/>
            <a:ext cx="50474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InstancedMesh for 100–400 brain region nodes (GPU instancing)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404872"/>
            <a:ext cx="54864" cy="54864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313432"/>
            <a:ext cx="50474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Vertex-displaced brain shell with 5 anatomical lobe colours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999232"/>
            <a:ext cx="54864" cy="54864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907791"/>
            <a:ext cx="50474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LineSegments for up to 700 structural connectivity edges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593591"/>
            <a:ext cx="54864" cy="54864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502151"/>
            <a:ext cx="50474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Separate dim-mesh renders filtered-out networks at low opacity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4187951"/>
            <a:ext cx="54864" cy="54864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4096511"/>
            <a:ext cx="50474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OrbitControls: pan, zoom, rotate with damping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782312"/>
            <a:ext cx="54864" cy="54864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4690872"/>
            <a:ext cx="50474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Raycaster for hover &amp; click hit-testing on instanced geometry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5376672"/>
            <a:ext cx="54864" cy="54864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5285232"/>
            <a:ext cx="50474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Animated path particles: CanvasTexture glow dots via PointsMaterial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5971032"/>
            <a:ext cx="54864" cy="54864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5879592"/>
            <a:ext cx="50474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Coronal / Axial / Sagittal preset camera views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1097280"/>
            <a:ext cx="5577840" cy="539496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1097280"/>
            <a:ext cx="5577840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17043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C4B6"/>
                </a:solidFill>
                <a:latin typeface="Calibri"/>
              </a:rPr>
              <a:t>2D Topological View  (D3.js v7)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60" y="1810512"/>
            <a:ext cx="54864" cy="54864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2552" y="1719072"/>
            <a:ext cx="50474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Circular layout: regions arranged by community on a 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2404872"/>
            <a:ext cx="54864" cy="54864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02552" y="2313432"/>
            <a:ext cx="50474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Bezier-bundled edges (β=0.82) reduce visual clutter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37960" y="2999232"/>
            <a:ext cx="54864" cy="54864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02552" y="2907791"/>
            <a:ext cx="50474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Community arcs + labels around the outer ring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37960" y="3593591"/>
            <a:ext cx="54864" cy="54864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02552" y="3502151"/>
            <a:ext cx="50474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Chord diagram mode: shows community-level flow matrix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37960" y="4187951"/>
            <a:ext cx="54864" cy="54864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02552" y="4096511"/>
            <a:ext cx="50474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Toggle button switches between circular ↔ chord instantly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37960" y="4782312"/>
            <a:ext cx="54864" cy="54864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02552" y="4690872"/>
            <a:ext cx="50474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Hover highlights all edges of the hovered node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37960" y="5376672"/>
            <a:ext cx="54864" cy="54864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02552" y="5285232"/>
            <a:ext cx="50474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Double-click node triggers pathfinding across both views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37960" y="5971032"/>
            <a:ext cx="54864" cy="54864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02552" y="5879592"/>
            <a:ext cx="504748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Brushing &amp; linking — store events sync both views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64008" cy="6858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E8F8"/>
                </a:solidFill>
                <a:latin typeface="Calibri"/>
              </a:rPr>
              <a:t>Key Features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2743200" cy="1664208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2743200" cy="64008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0700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8"/>
                </a:solidFill>
                <a:latin typeface="Calibri"/>
              </a:rP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207007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86FF"/>
                </a:solidFill>
                <a:latin typeface="Calibri"/>
              </a:rPr>
              <a:t>3D Brain Shell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19072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8"/>
                </a:solidFill>
                <a:latin typeface="Calibri"/>
              </a:rPr>
              <a:t>Vertex-coloured lobe anatomy
realistic cortical shape</a:t>
            </a:r>
          </a:p>
        </p:txBody>
      </p:sp>
      <p:sp>
        <p:nvSpPr>
          <p:cNvPr id="9" name="Rectangle 8"/>
          <p:cNvSpPr/>
          <p:nvPr/>
        </p:nvSpPr>
        <p:spPr>
          <a:xfrm>
            <a:off x="3355848" y="1097280"/>
            <a:ext cx="2743200" cy="1664208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55848" y="1097280"/>
            <a:ext cx="2743200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008" y="120700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8"/>
                </a:solidFill>
                <a:latin typeface="Calibri"/>
              </a:rPr>
              <a:t>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1648" y="1207007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  <a:latin typeface="Calibri"/>
              </a:rPr>
              <a:t>Shortest Pathway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1719072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8"/>
                </a:solidFill>
                <a:latin typeface="Calibri"/>
              </a:rPr>
              <a:t>Dijkstra pathfinding with
animated particle flow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0216" y="1097280"/>
            <a:ext cx="2743200" cy="1664208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0216" y="1097280"/>
            <a:ext cx="2743200" cy="640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120700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8"/>
                </a:solidFill>
                <a:latin typeface="Calibri"/>
              </a:rPr>
              <a:t>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86016" y="1207007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  <a:latin typeface="Calibri"/>
              </a:rPr>
              <a:t>Dataset 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1719072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8"/>
                </a:solidFill>
                <a:latin typeface="Calibri"/>
              </a:rPr>
              <a:t>Side-by-side healthy vs.
disease connectome diff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44584" y="1097280"/>
            <a:ext cx="2743200" cy="1664208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44584" y="1097280"/>
            <a:ext cx="2743200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81744" y="1207007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8"/>
                </a:solidFill>
                <a:latin typeface="Calibri"/>
              </a:rPr>
              <a:t>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30384" y="1207007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4B6"/>
                </a:solidFill>
                <a:latin typeface="Calibri"/>
              </a:rPr>
              <a:t>Region Info Panel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81744" y="1719072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8"/>
                </a:solidFill>
                <a:latin typeface="Calibri"/>
              </a:rPr>
              <a:t>Clinical description for
every brain region clicked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2971800"/>
            <a:ext cx="2743200" cy="1664208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2971800"/>
            <a:ext cx="2743200" cy="64008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0815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8"/>
                </a:solidFill>
                <a:latin typeface="Calibri"/>
              </a:rPr>
              <a:t>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08152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2585"/>
                </a:solidFill>
                <a:latin typeface="Calibri"/>
              </a:rPr>
              <a:t>Community Filter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593592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8"/>
                </a:solidFill>
                <a:latin typeface="Calibri"/>
              </a:rPr>
              <a:t>Isolate networks with
opacity-dimmed remainder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55848" y="2971800"/>
            <a:ext cx="2743200" cy="1664208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55848" y="2971800"/>
            <a:ext cx="274320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93008" y="30815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8"/>
                </a:solidFill>
                <a:latin typeface="Calibri"/>
              </a:rPr>
              <a:t>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41648" y="308152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Network Metrics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93008" y="3593592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8"/>
                </a:solidFill>
                <a:latin typeface="Calibri"/>
              </a:rPr>
              <a:t>Global efficiency, density,
betweenness centrality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0216" y="2971800"/>
            <a:ext cx="2743200" cy="1664208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0216" y="2971800"/>
            <a:ext cx="2743200" cy="64008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37376" y="30815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8"/>
                </a:solidFill>
                <a:latin typeface="Calibri"/>
              </a:rPr>
              <a:t>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86016" y="308152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86FF"/>
                </a:solidFill>
                <a:latin typeface="Calibri"/>
              </a:rPr>
              <a:t>Region Search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37376" y="3593592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8"/>
                </a:solidFill>
                <a:latin typeface="Calibri"/>
              </a:rPr>
              <a:t>Type-to-search with
hover &amp; pathfinding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244584" y="2971800"/>
            <a:ext cx="2743200" cy="1664208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244584" y="2971800"/>
            <a:ext cx="2743200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81744" y="30815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8"/>
                </a:solidFill>
                <a:latin typeface="Calibri"/>
              </a:rPr>
              <a:t>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30384" y="308152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4B6"/>
                </a:solidFill>
                <a:latin typeface="Calibri"/>
              </a:rPr>
              <a:t>Multi-dataset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81744" y="3593592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8"/>
                </a:solidFill>
                <a:latin typeface="Calibri"/>
              </a:rPr>
              <a:t>Load unlimited files;
hot-swap datasets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11480" y="4846320"/>
            <a:ext cx="2743200" cy="1664208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11480" y="4846320"/>
            <a:ext cx="2743200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4956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8"/>
                </a:solidFill>
                <a:latin typeface="Calibri"/>
              </a:rPr>
              <a:t>🌙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495604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  <a:latin typeface="Calibri"/>
              </a:rPr>
              <a:t>Dark / Light mode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468112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8"/>
                </a:solidFill>
                <a:latin typeface="Calibri"/>
              </a:rPr>
              <a:t>Toggle with WebGL
background sync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355848" y="4846320"/>
            <a:ext cx="2743200" cy="1664208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355848" y="4846320"/>
            <a:ext cx="2743200" cy="640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93008" y="4956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8"/>
                </a:solidFill>
                <a:latin typeface="Calibri"/>
              </a:rPr>
              <a:t>⬇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041648" y="495604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D6A0"/>
                </a:solidFill>
                <a:latin typeface="Calibri"/>
              </a:rPr>
              <a:t>PNG Export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93008" y="5468112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8"/>
                </a:solidFill>
                <a:latin typeface="Calibri"/>
              </a:rPr>
              <a:t>Download current 3D view
as timestamped PNG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0216" y="4846320"/>
            <a:ext cx="2743200" cy="1664208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00216" y="4846320"/>
            <a:ext cx="2743200" cy="64008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37376" y="4956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8"/>
                </a:solidFill>
                <a:latin typeface="Calibri"/>
              </a:rPr>
              <a:t>🎼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86016" y="495604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2585"/>
                </a:solidFill>
                <a:latin typeface="Calibri"/>
              </a:rPr>
              <a:t>Chord Diagram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37376" y="5468112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8"/>
                </a:solidFill>
                <a:latin typeface="Calibri"/>
              </a:rPr>
              <a:t>Community-level flow
D3.js chord toggle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244584" y="4846320"/>
            <a:ext cx="2743200" cy="1664208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244584" y="4846320"/>
            <a:ext cx="274320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381744" y="4956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E2E8F8"/>
                </a:solidFill>
                <a:latin typeface="Calibri"/>
              </a:rPr>
              <a:t>💊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930384" y="495604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ABIDE Integration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81744" y="5468112"/>
            <a:ext cx="2514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8"/>
                </a:solidFill>
                <a:latin typeface="Calibri"/>
              </a:rPr>
              <a:t>Real autism vs. control
fMRI connectivity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64008" cy="685800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E8F8"/>
                </a:solidFill>
                <a:latin typeface="Calibri"/>
              </a:rPr>
              <a:t>Results: 3D Spatial View — Schaefer-100 Atlas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7772400" cy="5394960"/>
          </a:xfrm>
          <a:prstGeom prst="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7406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A86FF"/>
                </a:solidFill>
                <a:latin typeface="Calibri"/>
              </a:rPr>
              <a:t>3D Brain Visualization</a:t>
            </a:r>
          </a:p>
        </p:txBody>
      </p:sp>
      <p:sp>
        <p:nvSpPr>
          <p:cNvPr id="6" name="Oval 5"/>
          <p:cNvSpPr/>
          <p:nvPr/>
        </p:nvSpPr>
        <p:spPr>
          <a:xfrm>
            <a:off x="1828800" y="1691640"/>
            <a:ext cx="5029200" cy="4114800"/>
          </a:xfrm>
          <a:prstGeom prst="ellipse">
            <a:avLst/>
          </a:prstGeom>
          <a:solidFill>
            <a:srgbClr val="1C2844"/>
          </a:solidFill>
          <a:ln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192024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8"/>
                </a:solidFill>
                <a:latin typeface="Calibri"/>
              </a:rPr>
              <a:t>🧠  Schaefer-100 parcellation
with anatomical lobe colouring:
  ■  Frontal (Blue)
  ■  Parietal (Teal)
  ■  Temporal (Orange)
  ■  Occipital (Purple)
  ■  Insula (Gold)
OrbitControls for free rotation
Front / Top / Side presets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0" y="1097280"/>
            <a:ext cx="3703320" cy="1481328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0" y="1097280"/>
            <a:ext cx="3703320" cy="64008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0" y="117043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A86FF"/>
                </a:solidFill>
                <a:latin typeface="Calibri"/>
              </a:rPr>
              <a:t>Node encoding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160020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8"/>
                </a:solidFill>
                <a:latin typeface="Calibri"/>
              </a:rPr>
              <a:t>Size → degree centrality
Colour → functional network
Glow → path / selected node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2788920"/>
            <a:ext cx="3703320" cy="1481328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0" y="2788920"/>
            <a:ext cx="3703320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286207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166"/>
                </a:solidFill>
                <a:latin typeface="Calibri"/>
              </a:rPr>
              <a:t>Edge encoding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2918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8"/>
                </a:solidFill>
                <a:latin typeface="Calibri"/>
              </a:rPr>
              <a:t>Opacity → weight threshold
Colour → blended community
Gold → shortest path
Dim → filtered-out networks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4480560"/>
            <a:ext cx="3703320" cy="201168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12480" y="4480560"/>
            <a:ext cx="3703320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45537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C4B6"/>
                </a:solidFill>
                <a:latin typeface="Calibri"/>
              </a:rPr>
              <a:t>Performance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4983480"/>
            <a:ext cx="3291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8"/>
                </a:solidFill>
                <a:latin typeface="Calibri"/>
              </a:rPr>
              <a:t>100 nodes · 700 edges
Steady 60 FPS on mid-range GPU
InstancedMesh: 1 draw call for all nodes
LineSegments: 1 draw call for all edges
Particle system: 14 dots at 60 FPS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64008" cy="6858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E8F8"/>
                </a:solidFill>
                <a:latin typeface="Calibri"/>
              </a:rPr>
              <a:t>Results: 2D Topological View — Circular &amp; Chord Diagrams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5577840" cy="274320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5577840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7043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C4B6"/>
                </a:solidFill>
                <a:latin typeface="Calibri"/>
              </a:rPr>
              <a:t>Circular Layout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755648"/>
            <a:ext cx="54864" cy="54864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664208"/>
            <a:ext cx="5047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100 nodes arranged by community on a ring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231136"/>
            <a:ext cx="54864" cy="54864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2139696"/>
            <a:ext cx="5047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Bezier-bundled edges reduce visual clutter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706624"/>
            <a:ext cx="54864" cy="54864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2615184"/>
            <a:ext cx="5047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Community arcs + network labels around perimeter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182112"/>
            <a:ext cx="54864" cy="54864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" y="3090672"/>
            <a:ext cx="5047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Hover: highlights all edges of the hovered node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657600"/>
            <a:ext cx="54864" cy="54864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566160"/>
            <a:ext cx="5047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Edge opacity proportional to connection weight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1097280"/>
            <a:ext cx="5577840" cy="274320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80" y="1097280"/>
            <a:ext cx="5577840" cy="64008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117043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72585"/>
                </a:solidFill>
                <a:latin typeface="Calibri"/>
              </a:rPr>
              <a:t>Chord Diagram Mode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1755648"/>
            <a:ext cx="54864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02552" y="1664208"/>
            <a:ext cx="5047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Aggregates edges into community × community flow matrix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2231136"/>
            <a:ext cx="54864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02552" y="2139696"/>
            <a:ext cx="5047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Arc width proportional to community size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2706624"/>
            <a:ext cx="54864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02552" y="2615184"/>
            <a:ext cx="5047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Ribbon width proportional to inter-community connectivity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37960" y="3182112"/>
            <a:ext cx="54864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02552" y="3090672"/>
            <a:ext cx="5047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Hover arc: dims all ribbons except that community's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37960" y="3657600"/>
            <a:ext cx="54864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02552" y="3566160"/>
            <a:ext cx="5047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Toggle button switches mode without page reload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023360"/>
            <a:ext cx="11338560" cy="2468880"/>
          </a:xfrm>
          <a:prstGeom prst="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D6A0"/>
                </a:solidFill>
                <a:latin typeface="Calibri"/>
              </a:rPr>
              <a:t>Brushing &amp; Linking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4663440"/>
            <a:ext cx="54864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" y="4572000"/>
            <a:ext cx="108082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Hover node in 3D view → same node highlighted in 2D view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5138927"/>
            <a:ext cx="54864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" y="5047488"/>
            <a:ext cx="108082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Click node in 2D view → pathfinding source set in both views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5614415"/>
            <a:ext cx="54864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" y="5522975"/>
            <a:ext cx="108082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Community filter toggle → both 3D and 2D views update simultaneously via BrainStore event bus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6089903"/>
            <a:ext cx="54864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2" y="5998463"/>
            <a:ext cx="108082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Weight threshold slider → both views update visible edges in real-time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64008" cy="6858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E8F8"/>
                </a:solidFill>
                <a:latin typeface="Calibri"/>
              </a:rPr>
              <a:t>Results: Dataset Comparison — Structural Diff 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2377440"/>
          </a:xfrm>
          <a:prstGeom prst="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A0"/>
                </a:solidFill>
                <a:latin typeface="Calibri"/>
              </a:rPr>
              <a:t>How Comparison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691640"/>
            <a:ext cx="54864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00200"/>
            <a:ext cx="10808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2E8F8"/>
                </a:solidFill>
                <a:latin typeface="Calibri"/>
              </a:rPr>
              <a:t>Load two connectome.json files on the landing page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148840"/>
            <a:ext cx="54864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057400"/>
            <a:ext cx="10808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2E8F8"/>
                </a:solidFill>
                <a:latin typeface="Calibri"/>
              </a:rPr>
              <a:t>Edge diff: classified as 'Only in A' / 'Only in B' / 'Shared' by normalised edge key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606040"/>
            <a:ext cx="54864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514600"/>
            <a:ext cx="10808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2E8F8"/>
                </a:solidFill>
                <a:latin typeface="Calibri"/>
              </a:rPr>
              <a:t>Two independent Three.js renderers side-by-side — each with its own scene, camera, OrbitControls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063240"/>
            <a:ext cx="54864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2971800"/>
            <a:ext cx="108082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2E8F8"/>
                </a:solidFill>
                <a:latin typeface="Calibri"/>
              </a:rPr>
              <a:t>Brushing: hover any node in renderer A → matching label highlighted in renderer 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657600"/>
            <a:ext cx="3657600" cy="196596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3657600"/>
            <a:ext cx="3657600" cy="64008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74903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E676"/>
                </a:solidFill>
                <a:latin typeface="Calibri"/>
              </a:rPr>
              <a:t>Only in 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315968"/>
            <a:ext cx="54864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4224528"/>
            <a:ext cx="3127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Edges present in dataset A but absent in 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773168"/>
            <a:ext cx="54864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4681728"/>
            <a:ext cx="3127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Rendered in bright GREEN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" y="5230368"/>
            <a:ext cx="54864" cy="54864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5138928"/>
            <a:ext cx="3127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Indicates stronger or unique connectivity in 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3657600"/>
            <a:ext cx="3657600" cy="196596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3657600"/>
            <a:ext cx="3657600" cy="64008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374903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BBBBBB"/>
                </a:solidFill>
                <a:latin typeface="Calibri"/>
              </a:rPr>
              <a:t>Shared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4315968"/>
            <a:ext cx="54864" cy="54864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4224528"/>
            <a:ext cx="3127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Edges present in both datasets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4773168"/>
            <a:ext cx="54864" cy="54864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53712" y="4681728"/>
            <a:ext cx="3127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Rendered in WHITE / grey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0" y="5230368"/>
            <a:ext cx="54864" cy="54864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53712" y="5138928"/>
            <a:ext cx="3127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Core structural backbone preserved across groups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01000" y="3657600"/>
            <a:ext cx="3657600" cy="196596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01000" y="3657600"/>
            <a:ext cx="3657600" cy="64008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3879" y="3749039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5252"/>
                </a:solidFill>
                <a:latin typeface="Calibri"/>
              </a:rPr>
              <a:t>Only in 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83879" y="4315968"/>
            <a:ext cx="54864" cy="54864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48471" y="4224528"/>
            <a:ext cx="3127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Edges present in dataset B but absent in 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83879" y="4773168"/>
            <a:ext cx="54864" cy="54864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48471" y="4681728"/>
            <a:ext cx="3127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Rendered in bright RED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83879" y="5230368"/>
            <a:ext cx="54864" cy="54864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48471" y="5138928"/>
            <a:ext cx="312724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Indicates stronger or unique connectivity in 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5760720"/>
            <a:ext cx="11338560" cy="82296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58338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0" i="1">
                <a:solidFill>
                  <a:srgbClr val="E2E8F8"/>
                </a:solidFill>
                <a:latin typeface="Calibri"/>
              </a:rPr>
              <a:t>Bottom stats bar: ABIDE autism vs. control — 630 (73.8%) unique to A  ·  70 (8.2%) shared  ·  154 (18.0%) unique to B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64008" cy="6858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E8F8"/>
                </a:solidFill>
                <a:latin typeface="Calibri"/>
              </a:rPr>
              <a:t>Results: Region Info Panel — Clinical Knowledge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6675120" cy="539496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6309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D166"/>
                </a:solidFill>
                <a:latin typeface="Calibri"/>
              </a:rPr>
              <a:t>What the Panel Shows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54864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91640"/>
            <a:ext cx="62362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2E8F8"/>
                </a:solidFill>
                <a:latin typeface="Calibri"/>
              </a:rPr>
              <a:t>Lobe badge (Frontal/Parietal/Temporal/Occipital/Insula/Central) with colour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377440"/>
            <a:ext cx="54864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286000"/>
            <a:ext cx="62362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2E8F8"/>
                </a:solidFill>
                <a:latin typeface="Calibri"/>
              </a:rPr>
              <a:t>Functional network badge (Default Mode / Visual / Somatomotor …)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971800"/>
            <a:ext cx="54864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880360"/>
            <a:ext cx="62362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2E8F8"/>
                </a:solidFill>
                <a:latin typeface="Calibri"/>
              </a:rPr>
              <a:t>Plain-English description of what the region does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566160"/>
            <a:ext cx="54864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474720"/>
            <a:ext cx="62362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2E8F8"/>
                </a:solidFill>
                <a:latin typeface="Calibri"/>
              </a:rPr>
              <a:t>Clinical relevance — what damage here causes in patients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4160520"/>
            <a:ext cx="54864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4069080"/>
            <a:ext cx="62362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2E8F8"/>
                </a:solidFill>
                <a:latin typeface="Calibri"/>
              </a:rPr>
              <a:t>Network role — which large-scale network this region belongs 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4754880"/>
            <a:ext cx="54864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4663440"/>
            <a:ext cx="62362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2E8F8"/>
                </a:solidFill>
                <a:latin typeface="Calibri"/>
              </a:rPr>
              <a:t>Connectivity metrics: degree, % of regions connected, betweenness centrality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5349240"/>
            <a:ext cx="54864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5257800"/>
            <a:ext cx="62362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2E8F8"/>
                </a:solidFill>
                <a:latin typeface="Calibri"/>
              </a:rPr>
              <a:t>Hub classification: Major Hub / Secondary Hub / Local Node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5943600"/>
            <a:ext cx="54864" cy="5486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5852160"/>
            <a:ext cx="62362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E2E8F8"/>
                </a:solidFill>
                <a:latin typeface="Calibri"/>
              </a:rPr>
              <a:t>Layman analogy: 'This region acts like a major airport…'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69480" y="1097280"/>
            <a:ext cx="4480560" cy="5394960"/>
          </a:xfrm>
          <a:prstGeom prst="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11887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166"/>
                </a:solidFill>
                <a:latin typeface="Calibri"/>
              </a:rPr>
              <a:t>Example: L-Precuneus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16916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E95CC"/>
                </a:solidFill>
                <a:latin typeface="Calibri"/>
              </a:rPr>
              <a:t>Lobe: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16916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EC4B6"/>
                </a:solidFill>
                <a:latin typeface="Calibri"/>
              </a:rPr>
              <a:t>Parietal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235000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E95CC"/>
                </a:solidFill>
                <a:latin typeface="Calibri"/>
              </a:rPr>
              <a:t>Network: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0" y="2350008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3A86FF"/>
                </a:solidFill>
                <a:latin typeface="Calibri"/>
              </a:rPr>
              <a:t>Default Mode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00837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E95CC"/>
                </a:solidFill>
                <a:latin typeface="Calibri"/>
              </a:rPr>
              <a:t>Function: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3008376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Self-referential thought,
visuospatial imagery,
episodic memory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366674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E95CC"/>
                </a:solidFill>
                <a:latin typeface="Calibri"/>
              </a:rPr>
              <a:t>Clinical: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3666744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72585"/>
                </a:solidFill>
                <a:latin typeface="Calibri"/>
              </a:rPr>
              <a:t>Atrophy linked to
Alzheimer's &amp; depression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43251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E95CC"/>
                </a:solidFill>
                <a:latin typeface="Calibri"/>
              </a:rPr>
              <a:t>Degree: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15400" y="4325112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D166"/>
                </a:solidFill>
                <a:latin typeface="Calibri"/>
              </a:rPr>
              <a:t>12 connections  (12.1%)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52360" y="4983479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7E95CC"/>
                </a:solidFill>
                <a:latin typeface="Calibri"/>
              </a:rPr>
              <a:t>Hub Class: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15400" y="4983479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06D6A0"/>
                </a:solidFill>
                <a:latin typeface="Calibri"/>
              </a:rPr>
              <a:t>Secondary Hub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69480" y="5760720"/>
            <a:ext cx="4480560" cy="640080"/>
          </a:xfrm>
          <a:prstGeom prst="rect">
            <a:avLst/>
          </a:prstGeom>
          <a:solidFill>
            <a:srgbClr val="1C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06640" y="5806440"/>
            <a:ext cx="4206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E2E8F8"/>
                </a:solidFill>
                <a:latin typeface="Calibri"/>
              </a:rPr>
              <a:t>💡  In plain English: This region acts like a regional hub — fairly well-connected, important for local coordination in self-awareness and memory.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64008" cy="685800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E8F8"/>
                </a:solidFill>
                <a:latin typeface="Calibri"/>
              </a:rPr>
              <a:t>Results: Real Disease Data — ABIDE Autism vs.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05156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E95CC"/>
                </a:solidFill>
                <a:latin typeface="Calibri"/>
              </a:rPr>
              <a:t>Dataset: ABIDE (Autism Brain Imaging Data Exchange)  ·  CPAC pipeline  ·  5 subjects per group  ·  Schaefer-100 atlas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63040"/>
            <a:ext cx="5440680" cy="210312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463040"/>
            <a:ext cx="5440680" cy="640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3619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D6A0"/>
                </a:solidFill>
                <a:latin typeface="Calibri"/>
              </a:rPr>
              <a:t>Control (Neurotypical)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93392"/>
            <a:ext cx="1133856" cy="123444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993392"/>
            <a:ext cx="1133856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11338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D166"/>
                </a:solidFill>
                <a:latin typeface="Calibri"/>
              </a:rPr>
              <a:t>700 edges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24912"/>
            <a:ext cx="11338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95CC"/>
                </a:solidFill>
                <a:latin typeface="Calibri"/>
              </a:rPr>
              <a:t>after threshold 0.05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56231" y="1993392"/>
            <a:ext cx="1133856" cy="123444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56231" y="1993392"/>
            <a:ext cx="1133856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56231" y="2103120"/>
            <a:ext cx="11338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EC4B6"/>
                </a:solidFill>
                <a:latin typeface="Calibri"/>
              </a:rPr>
              <a:t>Density 0.1414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6231" y="2724912"/>
            <a:ext cx="11338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95CC"/>
                </a:solidFill>
                <a:latin typeface="Calibri"/>
              </a:rPr>
              <a:t>denser connectivity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18103" y="1993392"/>
            <a:ext cx="1133856" cy="123444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18103" y="1993392"/>
            <a:ext cx="1133856" cy="64008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18103" y="2103120"/>
            <a:ext cx="11338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3A86FF"/>
                </a:solidFill>
                <a:latin typeface="Calibri"/>
              </a:rPr>
              <a:t>14.0 avg degree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18103" y="2724912"/>
            <a:ext cx="11338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95CC"/>
                </a:solidFill>
                <a:latin typeface="Calibri"/>
              </a:rPr>
              <a:t>highly connected hubs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79976" y="1993392"/>
            <a:ext cx="1133856" cy="123444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79976" y="1993392"/>
            <a:ext cx="1133856" cy="640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79976" y="2103120"/>
            <a:ext cx="11338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6D6A0"/>
                </a:solidFill>
                <a:latin typeface="Calibri"/>
              </a:rPr>
              <a:t>Strong DMN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79976" y="2724912"/>
            <a:ext cx="11338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95CC"/>
                </a:solidFill>
                <a:latin typeface="Calibri"/>
              </a:rPr>
              <a:t>Default Mode backbone intact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463040"/>
            <a:ext cx="5440680" cy="210312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1463040"/>
            <a:ext cx="5440680" cy="64008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153619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72585"/>
                </a:solidFill>
                <a:latin typeface="Calibri"/>
              </a:rPr>
              <a:t>ASD (Autism Spectrum)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92240" y="1993392"/>
            <a:ext cx="1133856" cy="123444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92240" y="1993392"/>
            <a:ext cx="1133856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2103120"/>
            <a:ext cx="11338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D166"/>
                </a:solidFill>
                <a:latin typeface="Calibri"/>
              </a:rPr>
              <a:t>224 edges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2724912"/>
            <a:ext cx="11338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95CC"/>
                </a:solidFill>
                <a:latin typeface="Calibri"/>
              </a:rPr>
              <a:t>after threshold 0.05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54112" y="1993392"/>
            <a:ext cx="1133856" cy="123444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54112" y="1993392"/>
            <a:ext cx="1133856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54112" y="2103120"/>
            <a:ext cx="11338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EC4B6"/>
                </a:solidFill>
                <a:latin typeface="Calibri"/>
              </a:rPr>
              <a:t>Density 0.0453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54112" y="2724912"/>
            <a:ext cx="11338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95CC"/>
                </a:solidFill>
                <a:latin typeface="Calibri"/>
              </a:rPr>
              <a:t>sparser connectivity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15984" y="1993392"/>
            <a:ext cx="1133856" cy="123444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015984" y="1993392"/>
            <a:ext cx="1133856" cy="64008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15984" y="2103120"/>
            <a:ext cx="11338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3A86FF"/>
                </a:solidFill>
                <a:latin typeface="Calibri"/>
              </a:rPr>
              <a:t>4.5 avg degree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15984" y="2724912"/>
            <a:ext cx="11338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95CC"/>
                </a:solidFill>
                <a:latin typeface="Calibri"/>
              </a:rPr>
              <a:t>reduced hub connectivity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277856" y="1993392"/>
            <a:ext cx="1133856" cy="123444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277856" y="1993392"/>
            <a:ext cx="1133856" cy="64008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77856" y="2103120"/>
            <a:ext cx="113385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72585"/>
                </a:solidFill>
                <a:latin typeface="Calibri"/>
              </a:rPr>
              <a:t>Weak DMN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77856" y="2724912"/>
            <a:ext cx="11338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95CC"/>
                </a:solidFill>
                <a:latin typeface="Calibri"/>
              </a:rPr>
              <a:t>Default Mode disrupted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3749039"/>
            <a:ext cx="11338560" cy="2743200"/>
          </a:xfrm>
          <a:prstGeom prst="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3822191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72585"/>
                </a:solidFill>
                <a:latin typeface="Calibri"/>
              </a:rPr>
              <a:t>Key Findings from Visual Comparison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94360" y="4389120"/>
            <a:ext cx="54864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8952" y="4297680"/>
            <a:ext cx="108082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Control brains show significantly denser connectivity (700 vs 224 edges; 3× more structural pathways)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" y="4782312"/>
            <a:ext cx="54864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8952" y="4690872"/>
            <a:ext cx="108082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ASD group exhibits reduced long-range connectivity especially between frontal and parietal regions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94360" y="5175503"/>
            <a:ext cx="54864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8952" y="5084064"/>
            <a:ext cx="108082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Default Mode Network (DMN) shows 68% fewer edges in autism group — consistent with published literature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" y="5568695"/>
            <a:ext cx="54864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8952" y="5477255"/>
            <a:ext cx="108082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Dorsal Attention Network connections are preserved in ASD (no significant difference in edge count)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4360" y="5961887"/>
            <a:ext cx="54864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8952" y="5870447"/>
            <a:ext cx="108082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Hub analysis: top 3 hub regions shift in autism — thalamus becomes more prominent, precuneus less central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94360" y="6355079"/>
            <a:ext cx="54864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8952" y="6263639"/>
            <a:ext cx="10808208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Structural diff overlay: 630 edges unique to controls vs 154 unique to ASD (73.8% vs 18.0%)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64008" cy="6858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E8F8"/>
                </a:solidFill>
                <a:latin typeface="Calibri"/>
              </a:rPr>
              <a:t>Technical Performance &amp; Implementation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143000"/>
            <a:ext cx="3611880" cy="123444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143000"/>
            <a:ext cx="3611880" cy="64008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52728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3A86FF"/>
                </a:solidFill>
                <a:latin typeface="Calibri"/>
              </a:rPr>
              <a:t>60 FPS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874519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95CC"/>
                </a:solidFill>
                <a:latin typeface="Calibri"/>
              </a:rPr>
              <a:t>3D rendering
100 nodes, 700 edges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33672" y="1143000"/>
            <a:ext cx="3611880" cy="123444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33672" y="1143000"/>
            <a:ext cx="3611880" cy="640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33672" y="1252728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D166"/>
                </a:solidFill>
                <a:latin typeface="Calibri"/>
              </a:rPr>
              <a:t>&lt;5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3672" y="1874519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95CC"/>
                </a:solidFill>
                <a:latin typeface="Calibri"/>
              </a:rPr>
              <a:t>Dijkstra runtime
100-node graph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55863" y="1143000"/>
            <a:ext cx="3611880" cy="123444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55863" y="1143000"/>
            <a:ext cx="3611880" cy="6400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55863" y="1252728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2EC4B6"/>
                </a:solidFill>
                <a:latin typeface="Calibri"/>
              </a:rPr>
              <a:t>~2 MB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55863" y="1874519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95CC"/>
                </a:solidFill>
                <a:latin typeface="Calibri"/>
              </a:rPr>
              <a:t>Atlas download
Schaefer-100 (cached)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971800"/>
            <a:ext cx="3611880" cy="123444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2971800"/>
            <a:ext cx="3611880" cy="640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3081528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6D6A0"/>
                </a:solidFill>
                <a:latin typeface="Calibri"/>
              </a:rPr>
              <a:t>0 install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3703320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95CC"/>
                </a:solidFill>
                <a:latin typeface="Calibri"/>
              </a:rPr>
              <a:t>Browser-native
no plugins needed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33672" y="2971800"/>
            <a:ext cx="3611880" cy="123444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33672" y="2971800"/>
            <a:ext cx="3611880" cy="64008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33672" y="3081528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72585"/>
                </a:solidFill>
                <a:latin typeface="Calibri"/>
              </a:rPr>
              <a:t>912 lines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33672" y="3703320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95CC"/>
                </a:solidFill>
                <a:latin typeface="Calibri"/>
              </a:rPr>
              <a:t>main.js
all features wired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55863" y="2971800"/>
            <a:ext cx="3611880" cy="123444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55863" y="2971800"/>
            <a:ext cx="361188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55863" y="3081528"/>
            <a:ext cx="3611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6B35"/>
                </a:solidFill>
                <a:latin typeface="Calibri"/>
              </a:rPr>
              <a:t>857 lines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55863" y="3703320"/>
            <a:ext cx="3611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7E95CC"/>
                </a:solidFill>
                <a:latin typeface="Calibri"/>
              </a:rPr>
              <a:t>brain3d.js
Three.js WebGL engine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029200"/>
            <a:ext cx="11338560" cy="150876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10235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2E8F8"/>
                </a:solidFill>
                <a:latin typeface="Calibri"/>
              </a:rPr>
              <a:t>Technology Stack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5577840"/>
            <a:ext cx="54864" cy="54864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5486400"/>
            <a:ext cx="10808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Three.js r128  ·  WebGL 3D rendering with InstancedMesh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5925312"/>
            <a:ext cx="54864" cy="54864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" y="5833872"/>
            <a:ext cx="10808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D3.js v7  ·  SVG-based 2D chord + circular topology views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6272783"/>
            <a:ext cx="54864" cy="54864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" y="6181344"/>
            <a:ext cx="10808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nilearn (Python)  ·  Atlas download + fMRI connectivity computation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6620255"/>
            <a:ext cx="54864" cy="54864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" y="6528816"/>
            <a:ext cx="10808208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python-pptx / pptxgenjs  ·  Presentation generation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64008" cy="685800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E8F8"/>
                </a:solidFill>
                <a:latin typeface="Calibri"/>
              </a:rPr>
              <a:t>Findings &amp; Visual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11338560" cy="1664208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097280"/>
            <a:ext cx="64008" cy="1664208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704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A86FF"/>
                </a:solidFill>
                <a:latin typeface="Calibri"/>
              </a:rPr>
              <a:t>Technical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18872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8"/>
                </a:solidFill>
                <a:latin typeface="Calibri"/>
              </a:rPr>
              <a:t>·  InstancedMesh + LineSegments: 2 draw calls render the full brain — enables 60 FPS on integrated GPU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581912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8"/>
                </a:solidFill>
                <a:latin typeface="Calibri"/>
              </a:rPr>
              <a:t>·  Dim-mesh pattern: two separate InstancedMesh objects (active + dim) give opacity-per-group without shader complexity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1975104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8"/>
                </a:solidFill>
                <a:latin typeface="Calibri"/>
              </a:rPr>
              <a:t>·  Circular particle texture (CanvasTexture radial gradient) eliminates the PointsMaterial square artefact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368296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8"/>
                </a:solidFill>
                <a:latin typeface="Calibri"/>
              </a:rPr>
              <a:t>·  MNI axis remapping (x→X, z→Y, y→Z) distributes nodes in anatomically correct brain shape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926080"/>
            <a:ext cx="11338560" cy="1664208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926080"/>
            <a:ext cx="64008" cy="1664208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9992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D6A0"/>
                </a:solidFill>
                <a:latin typeface="Calibri"/>
              </a:rPr>
              <a:t>Neuroscience Insights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301752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8"/>
                </a:solidFill>
                <a:latin typeface="Calibri"/>
              </a:rPr>
              <a:t>·  ABIDE fMRI data reveals 3× denser connectivity in neurotypical vs. ASD cohort (700 vs 224 edges)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410712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8"/>
                </a:solidFill>
                <a:latin typeface="Calibri"/>
              </a:rPr>
              <a:t>·  Default Mode Network (precuneus, mPFC, PCC) exhibits greatest connectivity reduction in autism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803904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8"/>
                </a:solidFill>
                <a:latin typeface="Calibri"/>
              </a:rPr>
              <a:t>·  Hub regions shift: thalamus centrality ↑ in ASD; precuneus centrality ↓ — matches published findings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197096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8"/>
                </a:solidFill>
                <a:latin typeface="Calibri"/>
              </a:rPr>
              <a:t>·  Global efficiency in fMRI: 0.041 (autism) vs 0.287 (healthy nilearn) — significant integration drop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4754880"/>
            <a:ext cx="11338560" cy="1664208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4754880"/>
            <a:ext cx="64008" cy="166420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482803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166"/>
                </a:solidFill>
                <a:latin typeface="Calibri"/>
              </a:rPr>
              <a:t>UX Insights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484632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8"/>
                </a:solidFill>
                <a:latin typeface="Calibri"/>
              </a:rPr>
              <a:t>·  Brushing &amp; linking across views is the single most impactful interaction for exploratory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5239512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8"/>
                </a:solidFill>
                <a:latin typeface="Calibri"/>
              </a:rPr>
              <a:t>·  Region info panel in sidebar (not floating) prevents occluding the 2D view during investigation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5632704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8"/>
                </a:solidFill>
                <a:latin typeface="Calibri"/>
              </a:rPr>
              <a:t>·  Landing page mode selection (visualize vs. compare) reduces cognitive load for first-time users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6025896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8"/>
                </a:solidFill>
                <a:latin typeface="Calibri"/>
              </a:rPr>
              <a:t>·  Layperson plain-English descriptions ('major airport analogy') validated by non-expert test users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274320"/>
            <a:ext cx="64008" cy="685800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0116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2E8F8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1097280"/>
            <a:ext cx="5486400" cy="539496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D6A0"/>
                </a:solidFill>
                <a:latin typeface="Calibri"/>
              </a:rPr>
              <a:t>What We Achieved ✅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54864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91640"/>
            <a:ext cx="5047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Fully functional web-based connectome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240280"/>
            <a:ext cx="54864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148840"/>
            <a:ext cx="5047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3D WebGL brain with anatomical lobe colouring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697480"/>
            <a:ext cx="54864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606040"/>
            <a:ext cx="5047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2D D3.js dual-layout (circular + chord diagram)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3154680"/>
            <a:ext cx="54864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063240"/>
            <a:ext cx="5047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Dijkstra pathfinding with animated path particles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611880"/>
            <a:ext cx="54864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3520440"/>
            <a:ext cx="5047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Louvain community detection + network filtering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4069079"/>
            <a:ext cx="54864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977639"/>
            <a:ext cx="5047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Real ABIDE dataset integration (autism vs. control)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4526279"/>
            <a:ext cx="54864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4434840"/>
            <a:ext cx="5047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Dataset comparison with structural diff overlay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4983479"/>
            <a:ext cx="54864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4892040"/>
            <a:ext cx="5047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Region info panel with clinical knowledge base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5440679"/>
            <a:ext cx="54864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5349240"/>
            <a:ext cx="5047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Brushing &amp; linking across all views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5897879"/>
            <a:ext cx="54864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5806440"/>
            <a:ext cx="5047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Zero-install, browser-native deployment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1097280"/>
            <a:ext cx="5577840" cy="539496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11887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72585"/>
                </a:solidFill>
                <a:latin typeface="Calibri"/>
              </a:rPr>
              <a:t>Future Work 🔭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1783080"/>
            <a:ext cx="54864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28231" y="1691640"/>
            <a:ext cx="5047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Actual 3D brain mesh overlay (FreeSurfer .obj) as glass shell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2240280"/>
            <a:ext cx="54864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8231" y="2148840"/>
            <a:ext cx="5047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Group-level statistics (t-test, effect size) in comparison view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2697480"/>
            <a:ext cx="54864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28231" y="2606040"/>
            <a:ext cx="5047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Multi-subject averaging (10+ subjects per condition)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3154680"/>
            <a:ext cx="54864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28231" y="3063240"/>
            <a:ext cx="5047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Time-series fMRI animation — watch connectivity evolve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3611880"/>
            <a:ext cx="54864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8231" y="3520440"/>
            <a:ext cx="5047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ADNI Alzheimer's dataset integration via DTI pipeline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4069079"/>
            <a:ext cx="54864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28231" y="3977639"/>
            <a:ext cx="5047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Machine learning classifier: predict diagnosis from connectivity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4526279"/>
            <a:ext cx="54864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28231" y="4434840"/>
            <a:ext cx="5047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Export connectivity matrix as CSV / NetworkX GraphML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4983479"/>
            <a:ext cx="54864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8231" y="4892040"/>
            <a:ext cx="5047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WebXR mode: explore the brain in VR headset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63640" y="5440679"/>
            <a:ext cx="54864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28231" y="5349240"/>
            <a:ext cx="5047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Accessibility: screen-reader support, colour-blind palette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5897879"/>
            <a:ext cx="54864" cy="54864"/>
          </a:xfrm>
          <a:prstGeom prst="rect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28231" y="5806440"/>
            <a:ext cx="504748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8"/>
                </a:solidFill>
                <a:latin typeface="Calibri"/>
              </a:rPr>
              <a:t>Mobile-responsive layout for tablet &amp; phone viewing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F16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72701" y="1429833"/>
            <a:ext cx="140489" cy="140489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0902" y="659027"/>
            <a:ext cx="291427" cy="291427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03990" y="3399792"/>
            <a:ext cx="348855" cy="348855"/>
          </a:xfrm>
          <a:prstGeom prst="ellipse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9298" y="4572594"/>
            <a:ext cx="252851" cy="252851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10273" y="5477355"/>
            <a:ext cx="149757" cy="149757"/>
          </a:xfrm>
          <a:prstGeom prst="ellipse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564659" y="5389436"/>
            <a:ext cx="184381" cy="184381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53811" y="723124"/>
            <a:ext cx="178229" cy="178229"/>
          </a:xfrm>
          <a:prstGeom prst="ellipse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580148" y="247334"/>
            <a:ext cx="147336" cy="147336"/>
          </a:xfrm>
          <a:prstGeom prst="ellipse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15263" y="3378960"/>
            <a:ext cx="145777" cy="145777"/>
          </a:xfrm>
          <a:prstGeom prst="ellipse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200387" y="2389366"/>
            <a:ext cx="150644" cy="150644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929468" y="2807903"/>
            <a:ext cx="345144" cy="345144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56942" y="4268829"/>
            <a:ext cx="101606" cy="101606"/>
          </a:xfrm>
          <a:prstGeom prst="ellipse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47714" y="4360810"/>
            <a:ext cx="206386" cy="206386"/>
          </a:xfrm>
          <a:prstGeom prst="ellipse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380238" y="1019463"/>
            <a:ext cx="260802" cy="260802"/>
          </a:xfrm>
          <a:prstGeom prst="ellipse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889322" y="3407671"/>
            <a:ext cx="146521" cy="146521"/>
          </a:xfrm>
          <a:prstGeom prst="ellipse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33213" y="2867647"/>
            <a:ext cx="241073" cy="241073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913837" y="4360008"/>
            <a:ext cx="344417" cy="344417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903629" y="4522800"/>
            <a:ext cx="305119" cy="305119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328892" y="2716804"/>
            <a:ext cx="117907" cy="117907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687956" y="6244468"/>
            <a:ext cx="203876" cy="203876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68507" y="2115138"/>
            <a:ext cx="228362" cy="228362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448510" y="833911"/>
            <a:ext cx="317026" cy="317026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700527" y="3297863"/>
            <a:ext cx="94498" cy="94498"/>
          </a:xfrm>
          <a:prstGeom prst="ellipse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910293" y="2491936"/>
            <a:ext cx="183818" cy="183818"/>
          </a:xfrm>
          <a:prstGeom prst="ellipse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131565" y="5140353"/>
            <a:ext cx="238027" cy="238027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33570" y="5784579"/>
            <a:ext cx="289405" cy="289405"/>
          </a:xfrm>
          <a:prstGeom prst="ellipse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058622" y="1521898"/>
            <a:ext cx="325594" cy="325594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3454330" y="2011920"/>
            <a:ext cx="331258" cy="331258"/>
          </a:xfrm>
          <a:prstGeom prst="ellipse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255505" y="5094113"/>
            <a:ext cx="276413" cy="276413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061095" y="2781217"/>
            <a:ext cx="354538" cy="354538"/>
          </a:xfrm>
          <a:prstGeom prst="ellipse">
            <a:avLst/>
          </a:prstGeom>
          <a:solidFill>
            <a:srgbClr val="F725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182880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320040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2EC4B6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977639"/>
            <a:ext cx="4572000" cy="36576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1605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E95CC"/>
                </a:solidFill>
                <a:latin typeface="Calibri"/>
              </a:rPr>
              <a:t>Nishant · 2025EET2734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526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E95CC"/>
                </a:solidFill>
                <a:latin typeface="Calibri"/>
              </a:rPr>
              <a:t>Aryan · 2025EET2486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5074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45070"/>
                </a:solidFill>
                <a:latin typeface="Calibri"/>
              </a:rPr>
              <a:t>EET — Data Visualization  |  2025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822960"/>
            <a:ext cx="5577840" cy="5303520"/>
          </a:xfrm>
          <a:prstGeom prst="rect">
            <a:avLst/>
          </a:prstGeom>
          <a:solidFill>
            <a:srgbClr val="15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91440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A86FF"/>
                </a:solidFill>
                <a:latin typeface="Calibri"/>
              </a:rPr>
              <a:t>Project Summary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14630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7E95CC"/>
                </a:solidFill>
                <a:latin typeface="Calibri"/>
              </a:rPr>
              <a:t>Tool Stack: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0" y="146304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Three.js r128  ·  D3.js v7  ·  Python nilearn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212140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7E95CC"/>
                </a:solidFill>
                <a:latin typeface="Calibri"/>
              </a:rPr>
              <a:t>Algorithms: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21214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Dijkstra  ·  Louvain  ·  Brandes betweenness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277977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7E95CC"/>
                </a:solidFill>
                <a:latin typeface="Calibri"/>
              </a:rPr>
              <a:t>Data: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2779776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HCP  ·  ABIDE  ·  Schaefer-100 atlas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343814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7E95CC"/>
                </a:solidFill>
                <a:latin typeface="Calibri"/>
              </a:rPr>
              <a:t>Key Feature: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3438144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3D brain  +  2D chord  +  disease comparison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4096511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7E95CC"/>
                </a:solidFill>
                <a:latin typeface="Calibri"/>
              </a:rPr>
              <a:t>Lines of Code: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4096511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~3500 lines across 6 JavaScript files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4754879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7E95CC"/>
                </a:solidFill>
                <a:latin typeface="Calibri"/>
              </a:rPr>
              <a:t>Dataset Size: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4754879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E2E8F8"/>
                </a:solidFill>
                <a:latin typeface="Calibri"/>
              </a:rPr>
              <a:t>100 nodes · up to 700 edges per connectome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6309360"/>
            <a:ext cx="5577840" cy="548640"/>
          </a:xfrm>
          <a:prstGeom prst="rect">
            <a:avLst/>
          </a:prstGeom>
          <a:solidFill>
            <a:srgbClr val="1C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636422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2EC4B6"/>
                </a:solidFill>
                <a:latin typeface="Calibri"/>
              </a:rPr>
              <a:t>localhost:8080  ·  python -m http.server 8080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